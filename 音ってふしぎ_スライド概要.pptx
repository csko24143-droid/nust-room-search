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0F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D700"/>
                </a:solidFill>
                <a:latin typeface="Meiryo"/>
              </a:rPr>
              <a:t>🎵 音ってふしぎ！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eiryo"/>
              </a:rPr>
              <a:t>世界に１つだけの楽器を作ろう！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CCFF"/>
                </a:solidFill>
                <a:latin typeface="Meiryo"/>
              </a:rPr>
              <a:t>〜 糸電話・気柱共鳴・カリンバで音のひみつをさぐれ！ 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Meiryo"/>
              </a:rPr>
              <a:t>理科教育サークル　夏の自由研究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eiryo"/>
              </a:rPr>
              <a:t>📋  もくじ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2743200" cy="5029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4630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eiryo"/>
              </a:rPr>
              <a:t>① 導入・糸電話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19456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eiryo"/>
              </a:rPr>
              <a:t>音ってなに？振動を体験しよう！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5943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eiryo"/>
              </a:rPr>
              <a:t>〜10分〜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371600"/>
            <a:ext cx="2743200" cy="5029200"/>
          </a:xfrm>
          <a:prstGeom prst="rect">
            <a:avLst/>
          </a:prstGeom>
          <a:solidFill>
            <a:srgbClr val="1E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eiryo"/>
              </a:rPr>
              <a:t>② 気柱共鳴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19456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eiryo"/>
              </a:rPr>
              <a:t>音は波！大きさと高さのひみつ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5943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eiryo"/>
              </a:rPr>
              <a:t>〜10分〜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371600"/>
            <a:ext cx="2743200" cy="5029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4630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eiryo"/>
              </a:rPr>
              <a:t>③ カリンバ制作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19456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eiryo"/>
              </a:rPr>
              <a:t>自分だけの楽器を作ろう！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943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eiryo"/>
              </a:rPr>
              <a:t>〜30分〜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1371600"/>
            <a:ext cx="2743200" cy="5029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14630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eiryo"/>
              </a:rPr>
              <a:t>④ まとめ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19456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eiryo"/>
              </a:rPr>
              <a:t>わかったこと・感想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5943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eiryo"/>
              </a:rPr>
              <a:t>〜5分〜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eiryo"/>
              </a:rPr>
              <a:t>🗺  今日のストーリー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22222"/>
                </a:solidFill>
                <a:latin typeface="Meiryo"/>
              </a:rPr>
              <a:t>音のひみつをさぐれ！３つのミッション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3200400" cy="2286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STEP①
糸電話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Meiryo"/>
              </a:rPr>
              <a:t>音は「振動」
で伝わる！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59" y="283464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22222"/>
                </a:solidFill>
                <a:latin typeface="Meiryo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2011680"/>
            <a:ext cx="3200400" cy="2286000"/>
          </a:xfrm>
          <a:prstGeom prst="rect">
            <a:avLst/>
          </a:prstGeom>
          <a:solidFill>
            <a:srgbClr val="1E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19" y="21031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STEP②
気柱共鳴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19" y="30175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Meiryo"/>
              </a:rPr>
              <a:t>音は「波」
長さで変わる！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83464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22222"/>
                </a:solidFill>
                <a:latin typeface="Meiryo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2011680"/>
            <a:ext cx="3200400" cy="2286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21031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STEP③
カリンバ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30175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Meiryo"/>
              </a:rPr>
              <a:t>自分で
音を作る！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54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5376"/>
                </a:solidFill>
                <a:latin typeface="Meiryo"/>
              </a:rPr>
              <a:t>すべてつながって　「音のひみつ」が完成！🎵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eiryo"/>
              </a:rPr>
              <a:t>導入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</a:rPr>
              <a:t>❓ 音ってなに？　考えてみよう！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22222"/>
                </a:solidFill>
                <a:latin typeface="Meiryo"/>
              </a:rPr>
              <a:t>みんなに質問です！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  <a:latin typeface="Meiryo"/>
              </a:rPr>
              <a:t>🔊  「音」ってどこから来ているんだろう？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62399"/>
            <a:ext cx="1124712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  <a:latin typeface="Meiryo"/>
              </a:rPr>
              <a:t>🎺  楽器はなぜ音が出るの？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38799"/>
            <a:ext cx="1124712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  <a:latin typeface="Meiryo"/>
              </a:rPr>
              <a:t>📻  音はどうやって耳まで届くの？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7AE60"/>
                </a:solidFill>
                <a:latin typeface="Meiryo"/>
              </a:rPr>
              <a:t>今日の実験で全部わかるようになるよ！🎉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eiryo"/>
              </a:rPr>
              <a:t>Part① 糸電話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</a:rPr>
              <a:t>📞 糸電話をやってみよう！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1247120" cy="1371600"/>
          </a:xfrm>
          <a:prstGeom prst="rect">
            <a:avLst/>
          </a:prstGeom>
          <a:solidFill>
            <a:srgbClr val="FFE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22222"/>
                </a:solidFill>
                <a:latin typeface="Meiryo"/>
              </a:rPr>
              <a:t>「糸電話」で音のひみつを調べよう！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"/>
              </a:rPr>
              <a:t>目標：音がどのように伝わるかを体験する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5376"/>
                </a:solidFill>
                <a:latin typeface="Meiryo"/>
              </a:rPr>
              <a:t>📌 実験中に注目してほしいこと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06240"/>
            <a:ext cx="1124712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eiryo"/>
              </a:rPr>
              <a:t>●  糸をつまむと声はどう変わる？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82639"/>
            <a:ext cx="1124712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eiryo"/>
              </a:rPr>
              <a:t>●  糸がたるんでいると？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559039"/>
            <a:ext cx="1124712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eiryo"/>
              </a:rPr>
              <a:t>●  糸なしだと届く？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eiryo"/>
              </a:rPr>
              <a:t>Part① 糸電話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</a:rPr>
              <a:t>🛒 用意するもの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Meiryo"/>
              </a:rPr>
              <a:t>【用意するもの】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544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Meiryo"/>
              </a:rPr>
              <a:t>【比べてみよう】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539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eiryo"/>
              </a:rPr>
              <a:t>● 紙コップ　2個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539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eiryo"/>
              </a:rPr>
              <a:t>● たこ糸（約3〜5m）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74920"/>
            <a:ext cx="539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eiryo"/>
              </a:rPr>
              <a:t>● つまようじ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57400"/>
            <a:ext cx="539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eiryo"/>
              </a:rPr>
              <a:t>● はさみ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66160"/>
            <a:ext cx="539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eiryo"/>
              </a:rPr>
              <a:t>● セロハンテープ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074920"/>
            <a:ext cx="539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eiryo"/>
              </a:rPr>
              <a:t>● (あれば) 毛糸・ビニール紐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554480"/>
            <a:ext cx="4572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eiryo"/>
              </a:rPr>
              <a:t>Part① 糸電話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</a:rPr>
              <a:t>✂️ 作り方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502920" cy="105156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627632"/>
            <a:ext cx="365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222222"/>
                </a:solidFill>
                <a:latin typeface="Meiryo"/>
              </a:rPr>
              <a:t>紙コップの底に　つまようじで　小さな穴をあける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88920"/>
            <a:ext cx="502920" cy="105156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2816352"/>
            <a:ext cx="365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222222"/>
                </a:solidFill>
                <a:latin typeface="Meiryo"/>
              </a:rPr>
              <a:t>糸を穴に通して　内側でかた結びをする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977639"/>
            <a:ext cx="502920" cy="105156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4005072"/>
            <a:ext cx="365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77639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222222"/>
                </a:solidFill>
                <a:latin typeface="Meiryo"/>
              </a:rPr>
              <a:t>もう一方のコップも同じようにする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166360"/>
            <a:ext cx="502920" cy="105156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5193792"/>
            <a:ext cx="365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6636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222222"/>
                </a:solidFill>
                <a:latin typeface="Meiryo"/>
              </a:rPr>
              <a:t>糸をピンと張って　話しかけてみよう！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eiryo"/>
              </a:rPr>
              <a:t>Part① 糸電話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</a:rPr>
              <a:t>🔬 実験① ：やってみよう！（観察）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22222"/>
                </a:solidFill>
                <a:latin typeface="Meiryo"/>
              </a:rPr>
              <a:t>やってみよう！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"/>
              </a:rPr>
              <a:t>①　ふつうに使う　→　聞こえる？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43300"/>
            <a:ext cx="112471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"/>
              </a:rPr>
              <a:t>②　糸をつまんでみる　→　どうなった？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00600"/>
            <a:ext cx="112471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"/>
              </a:rPr>
              <a:t>③　糸をたるませてみる　→　どうなった？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57900"/>
            <a:ext cx="112471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"/>
              </a:rPr>
              <a:t>④　糸なしで呼んでみる　→　届く？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577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5376"/>
                </a:solidFill>
                <a:latin typeface="Meiryo"/>
              </a:rPr>
              <a:t>📝 結果をメモしておこう！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eiryo"/>
              </a:rPr>
              <a:t>Part① 糸電話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</a:rPr>
              <a:t>💭 考察してみよう！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Meiryo"/>
              </a:rPr>
              <a:t>なぜ聞こえるの？　考えてみよう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"/>
              </a:rPr>
              <a:t>●  糸をつまんだら聞こえにくくなったのはなぜ？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62399"/>
            <a:ext cx="1124712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"/>
              </a:rPr>
              <a:t>●  糸がたるむと聞こえなくなったのはなぜ？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38799"/>
            <a:ext cx="1124712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"/>
              </a:rPr>
              <a:t>●  糸がないと届かないのはなぜ？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035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5376"/>
                </a:solidFill>
                <a:latin typeface="Meiryo"/>
              </a:rPr>
              <a:t>ヒント：コップに声を出した時、コップは「どう動いている」かな？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eiryo"/>
              </a:rPr>
              <a:t>Part① 糸電話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</a:rPr>
              <a:t>💡 答え：音の正体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solidFill>
            <a:srgbClr val="FFE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22222"/>
                </a:solidFill>
                <a:latin typeface="Meiryo"/>
              </a:rPr>
              <a:t>音は「振動（しんどう）」だ！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22222"/>
                </a:solidFill>
                <a:latin typeface="Meiryo"/>
              </a:rPr>
              <a:t>振動 ＝ もの（空気・糸・コップ）が　細かく「ふるえる」こと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1124712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"/>
              </a:rPr>
              <a:t>●  声を出すと　のどが振動する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34000"/>
            <a:ext cx="1124712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"/>
              </a:rPr>
              <a:t>●  振動が糸を通して　相手のコップに届く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010399"/>
            <a:ext cx="1124712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"/>
              </a:rPr>
              <a:t>●  コップが振動して　耳に音として聞こえる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eiryo"/>
              </a:rPr>
              <a:t>Part① 糸電話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</a:rPr>
              <a:t>〰️ 振動の伝わり方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22222"/>
                </a:solidFill>
                <a:latin typeface="Meiryo"/>
              </a:rPr>
              <a:t>振動の伝わり方イメージ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94560"/>
            <a:ext cx="1828800" cy="2286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286000"/>
            <a:ext cx="1737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eiryo"/>
              </a:rPr>
              <a:t>自分の
のど
（振動）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79" y="301752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22222"/>
                </a:solidFill>
                <a:latin typeface="Meiryo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2194560"/>
            <a:ext cx="1828800" cy="2286000"/>
          </a:xfrm>
          <a:prstGeom prst="rect">
            <a:avLst/>
          </a:prstGeom>
          <a:solidFill>
            <a:srgbClr val="FFA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79" y="2286000"/>
            <a:ext cx="1737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eiryo"/>
              </a:rPr>
              <a:t>紙コップ
①
（振動）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301752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22222"/>
                </a:solidFill>
                <a:latin typeface="Meiryo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2194560"/>
            <a:ext cx="1828800" cy="2286000"/>
          </a:xfrm>
          <a:prstGeom prst="rect">
            <a:avLst/>
          </a:prstGeom>
          <a:solidFill>
            <a:srgbClr val="FF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2286000"/>
            <a:ext cx="1737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eiryo"/>
              </a:rPr>
              <a:t>糸
（振動
伝わる）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01752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22222"/>
                </a:solidFill>
                <a:latin typeface="Meiryo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2194560"/>
            <a:ext cx="1828800" cy="2286000"/>
          </a:xfrm>
          <a:prstGeom prst="rect">
            <a:avLst/>
          </a:prstGeom>
          <a:solidFill>
            <a:srgbClr val="FFA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2286000"/>
            <a:ext cx="1737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eiryo"/>
              </a:rPr>
              <a:t>紙コップ
②
（振動）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301752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22222"/>
                </a:solidFill>
                <a:latin typeface="Meiryo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60" y="2194560"/>
            <a:ext cx="1828800" cy="2286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55480" y="2286000"/>
            <a:ext cx="1737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eiryo"/>
              </a:rPr>
              <a:t>相手の
耳
（聞こえる）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46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5376"/>
                </a:solidFill>
                <a:latin typeface="Meiryo"/>
              </a:rPr>
              <a:t>糸をつまむ　→　振動がストップ　→　聞こえなくなる！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eiryo"/>
              </a:rPr>
              <a:t>Part① 糸電話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</a:rPr>
              <a:t>💨 空気でも振動は伝わる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Meiryo"/>
              </a:rPr>
              <a:t>空気中でも振動は伝わる！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"/>
              </a:rPr>
              <a:t>●  声 → 空気が振動 → 耳に届く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62399"/>
            <a:ext cx="1124712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"/>
              </a:rPr>
              <a:t>●  でも、遠くなるほど振動は弱くなる（音が小さくなる）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38799"/>
            <a:ext cx="1124712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"/>
              </a:rPr>
              <a:t>●  糸電話では糸が振動を効率よく伝えてくれる！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5376"/>
                </a:solidFill>
                <a:latin typeface="Meiryo"/>
              </a:rPr>
              <a:t>🌙  宇宙では音は聞こえない！（空気がないから振動しない）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eiryo"/>
              </a:rPr>
              <a:t>Part① 糸電話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</a:rPr>
              <a:t>🔗 まとめ① ：音は振動！　次の疑問へ…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22222"/>
                </a:solidFill>
                <a:latin typeface="Meiryo"/>
              </a:rPr>
              <a:t>でも…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222222"/>
                </a:solidFill>
                <a:latin typeface="Meiryo"/>
              </a:rPr>
              <a:t>音の「高さ」はどこで決まるの？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222"/>
                </a:solidFill>
                <a:latin typeface="Meiryo"/>
              </a:rPr>
              <a:t>ドレミファソラシド… 高い音・低い音、何が違うの？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E8BC8"/>
                </a:solidFill>
                <a:latin typeface="Meiryo"/>
              </a:rPr>
              <a:t>次の実験でさぐろう！ →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eiryo"/>
              </a:rPr>
              <a:t>Part② 気柱共鳴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</a:rPr>
              <a:t>🎵 気柱共鳴を観察しよう！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solidFill>
            <a:srgbClr val="D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22222"/>
                </a:solidFill>
                <a:latin typeface="Meiryo"/>
              </a:rPr>
              <a:t>音叉＋試験管　で　気柱共鳴を観察しよう！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"/>
              </a:rPr>
              <a:t>目標：音の高さが何で決まるかを「目で見て」理解する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5376"/>
                </a:solidFill>
                <a:latin typeface="Meiryo"/>
              </a:rPr>
              <a:t>📌 注目ポイント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06240"/>
            <a:ext cx="112471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eiryo"/>
              </a:rPr>
              <a:t>●  音叉をどこに近づけると音が大きくなる？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720840"/>
            <a:ext cx="112471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eiryo"/>
              </a:rPr>
              <a:t>●  試験管の長さを変えると音は変わる？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eiryo"/>
              </a:rPr>
              <a:t>Part② 気柱共鳴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</a:rPr>
              <a:t>🛒 用意するもの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Meiryo"/>
              </a:rPr>
              <a:t>【用意するもの】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544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Meiryo"/>
              </a:rPr>
              <a:t>【あると便利】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53949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eiryo"/>
              </a:rPr>
              <a:t>● 音叉（おんさ）　数種類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88970"/>
            <a:ext cx="53949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eiryo"/>
              </a:rPr>
              <a:t>● 試験管（長さが違うもの）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20540"/>
            <a:ext cx="53949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eiryo"/>
              </a:rPr>
              <a:t>● 水（試験管に入れる用）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52110"/>
            <a:ext cx="53949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eiryo"/>
              </a:rPr>
              <a:t>● ゴムハンマー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57400"/>
            <a:ext cx="53949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eiryo"/>
              </a:rPr>
              <a:t>● 聴診器（あれば）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188970"/>
            <a:ext cx="53949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eiryo"/>
              </a:rPr>
              <a:t>● スピーカー（演示用）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20540"/>
            <a:ext cx="53949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eiryo"/>
              </a:rPr>
              <a:t>● 記録用紙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554480"/>
            <a:ext cx="4572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eiryo"/>
              </a:rPr>
              <a:t>Part② 気柱共鳴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</a:rPr>
              <a:t>📋 実験の方法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502920" cy="813816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627632"/>
            <a:ext cx="36576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1078992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222222"/>
                </a:solidFill>
                <a:latin typeface="Meiryo"/>
              </a:rPr>
              <a:t>音叉をゴムハンマーで叩いて音を出す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51176"/>
            <a:ext cx="502920" cy="813816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2578608"/>
            <a:ext cx="36576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51176"/>
            <a:ext cx="1078992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222222"/>
                </a:solidFill>
                <a:latin typeface="Meiryo"/>
              </a:rPr>
              <a:t>試験管の口に音叉を近づける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02152"/>
            <a:ext cx="502920" cy="813816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3529584"/>
            <a:ext cx="36576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02152"/>
            <a:ext cx="1078992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222222"/>
                </a:solidFill>
                <a:latin typeface="Meiryo"/>
              </a:rPr>
              <a:t>試験管の長さを変えながら　音の変化を観察する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453128"/>
            <a:ext cx="502920" cy="813816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4480560"/>
            <a:ext cx="36576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53128"/>
            <a:ext cx="1078992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222222"/>
                </a:solidFill>
                <a:latin typeface="Meiryo"/>
              </a:rPr>
              <a:t>水を入れて試験管の長さを調整してみよう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404104"/>
            <a:ext cx="502920" cy="813816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5431536"/>
            <a:ext cx="36576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eiryo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04104"/>
            <a:ext cx="1078992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222222"/>
                </a:solidFill>
                <a:latin typeface="Meiryo"/>
              </a:rPr>
              <a:t>一番音が大きくなる長さを記録しよう！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eiryo"/>
              </a:rPr>
              <a:t>Part② 気柱共鳴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</a:rPr>
              <a:t>👀 演示① ：観察タイム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22222"/>
                </a:solidFill>
                <a:latin typeface="Meiryo"/>
              </a:rPr>
              <a:t>観察してみよう！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  <a:latin typeface="Meiryo"/>
              </a:rPr>
              <a:t>🔍  試験管が短い　→　音は？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62399"/>
            <a:ext cx="1124712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  <a:latin typeface="Meiryo"/>
              </a:rPr>
              <a:t>🔍  試験管が長い　→　音は？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38799"/>
            <a:ext cx="1124712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  <a:latin typeface="Meiryo"/>
              </a:rPr>
              <a:t>🔍  一番大きくなったのはどの長さのとき？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035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5376"/>
                </a:solidFill>
                <a:latin typeface="Meiryo"/>
              </a:rPr>
              <a:t>📝 気づいたことをメモしよう！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eiryo"/>
              </a:rPr>
              <a:t>Part② 気柱共鳴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</a:rPr>
              <a:t>💡 共鳴とは？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solidFill>
            <a:srgbClr val="D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22222"/>
                </a:solidFill>
                <a:latin typeface="Meiryo"/>
              </a:rPr>
              <a:t>「共鳴（きょうめい）」って何？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"/>
              </a:rPr>
              <a:t>ブランコのたとえ
→ タイミングが合うと　どんどん大きく揺れる！
→ 音も同じ！　振動のリズムが合うと　大きく響く！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035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5376"/>
                </a:solidFill>
                <a:latin typeface="Meiryo"/>
              </a:rPr>
              <a:t>試験管の空気の長さが　音叉の振動に「ぴったり」合うと　大きく鳴る！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eiryo"/>
              </a:rPr>
              <a:t>Part② 気柱共鳴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</a:rPr>
              <a:t>〰️ 音の正体：「波」と「振動数」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22222"/>
                </a:solidFill>
                <a:latin typeface="Meiryo"/>
              </a:rPr>
              <a:t>音は「波（なみ）」だ！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"/>
              </a:rPr>
              <a:t>振動が広がっていく様子 ＝ 「波」
　波の長さのことを「波長（はちょう）」という
　1秒間に何回振動するか ＝ 「振動数（しんどうすう）」（単位：Hz ヘルツ）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5376"/>
                </a:solidFill>
                <a:latin typeface="Meiryo"/>
              </a:rPr>
              <a:t>振動数が多い　→　高い音　　　　振動数が少ない　→　低い音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eiryo"/>
              </a:rPr>
              <a:t>Part② 気柱共鳴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</a:rPr>
              <a:t>📊 波長と音の高さの関係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Meiryo"/>
              </a:rPr>
              <a:t>試験管の長さと音の高さの関係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194560"/>
            <a:ext cx="11612880" cy="502920"/>
          </a:xfrm>
          <a:prstGeom prst="rect">
            <a:avLst/>
          </a:prstGeom>
          <a:solidFill>
            <a:srgbClr val="1E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eiryo"/>
              </a:rPr>
              <a:t>試験管の長さ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240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eiryo"/>
              </a:rPr>
              <a:t>波長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240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eiryo"/>
              </a:rPr>
              <a:t>振動数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240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eiryo"/>
              </a:rPr>
              <a:t>音の高さ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43200"/>
            <a:ext cx="11612880" cy="685800"/>
          </a:xfrm>
          <a:prstGeom prst="rect">
            <a:avLst/>
          </a:prstGeom>
          <a:solidFill>
            <a:srgbClr val="E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7889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Meiryo"/>
              </a:rPr>
              <a:t>長い（空気の柱が長い）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7889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Meiryo"/>
              </a:rPr>
              <a:t>波長が長い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7889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Meiryo"/>
              </a:rPr>
              <a:t>振動数が少ない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7889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Meiryo"/>
              </a:rPr>
              <a:t>低い音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474720"/>
            <a:ext cx="116128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520439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Meiryo"/>
              </a:rPr>
              <a:t>短い（空気の柱が短い）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520439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Meiryo"/>
              </a:rPr>
              <a:t>波長が短い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20439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Meiryo"/>
              </a:rPr>
              <a:t>振動数が多い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520439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Meiryo"/>
              </a:rPr>
              <a:t>高い音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29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5376"/>
                </a:solidFill>
                <a:latin typeface="Meiryo"/>
              </a:rPr>
              <a:t>楽器でも全く同じ！　管の長さで音の高さが変わる！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eiryo"/>
              </a:rPr>
              <a:t>Part② 気柱共鳴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</a:rPr>
              <a:t>🎶 楽器も同じしくみ！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Meiryo"/>
              </a:rPr>
              <a:t>身近な楽器との共通点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"/>
              </a:rPr>
              <a:t>🎺  トランペット　→　管の長さで音が変わる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43300"/>
            <a:ext cx="112471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"/>
              </a:rPr>
              <a:t>🎸  ギター　→　弦の長さで音が変わる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00600"/>
            <a:ext cx="112471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"/>
              </a:rPr>
              <a:t>🪗  リコーダー　→　穴をふさいで空気の長さを変える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57900"/>
            <a:ext cx="112471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"/>
              </a:rPr>
              <a:t>🥁  太鼓　→　皮の大きさで音が変わる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864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5376"/>
                </a:solidFill>
                <a:latin typeface="Meiryo"/>
              </a:rPr>
              <a:t>全部「振動する部分の長さ・大きさ」で音が決まっている！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eiryo"/>
              </a:rPr>
              <a:t>Part② 気柱共鳴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</a:rPr>
              <a:t>✅ まとめ② ：音の高さのひみつ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Meiryo"/>
              </a:rPr>
              <a:t>まとめ②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solidFill>
            <a:srgbClr val="D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22222"/>
                </a:solidFill>
                <a:latin typeface="Meiryo"/>
              </a:rPr>
              <a:t>音の高さは「振動の数（振動数）」で決まる！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1124712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"/>
              </a:rPr>
              <a:t>●  空気の柱が長い → 振動数が少ない → 低い音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51120"/>
            <a:ext cx="1124712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"/>
              </a:rPr>
              <a:t>●  空気の柱が短い → 振動数が多い → 高い音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827519"/>
            <a:ext cx="1124712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"/>
              </a:rPr>
              <a:t>●  これを使えば　自分で音を作れる！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7AE60"/>
                </a:solidFill>
                <a:latin typeface="Meiryo"/>
              </a:rPr>
              <a:t>→ さあ、カリンバを作ろう！🎵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eiryo"/>
              </a:rPr>
              <a:t>Part③ カリンバ制作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</a:rPr>
              <a:t>🎹 いよいよ楽器制作！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solidFill>
            <a:srgbClr val="D0F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22222"/>
                </a:solidFill>
                <a:latin typeface="Meiryo"/>
              </a:rPr>
              <a:t>いよいよ！　世界に１つだけの楽器を作ろう！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"/>
              </a:rPr>
              <a:t>今まで学んだこと　→　全部カリンバに入っている！
　①　音は「振動」で伝わる　（糸電話）
　②　振動の数で音の高さが変わる　（気柱共鳴）
　③　自分でキーの長さを変えて　自分だけの音を作る！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eiryo"/>
              </a:rPr>
              <a:t>Part③ カリンバ制作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</a:rPr>
              <a:t>🌍 カリンバってなに？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22222"/>
                </a:solidFill>
                <a:latin typeface="Meiryo"/>
              </a:rPr>
              <a:t>カリンバってなに？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"/>
              </a:rPr>
              <a:t>アフリカ生まれの民族楽器
英語では　「サムピアノ」（親指ピアノ）ともよばれる
金属のキー（板）を親指ではじいて音を出す
キーの長さを変えることで　音の高さが決まる！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5376"/>
                </a:solidFill>
                <a:latin typeface="Meiryo"/>
              </a:rPr>
              <a:t>→ まさに「気柱共鳴」で学んだ　「長さ→音の高さ」の原理！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eiryo"/>
              </a:rPr>
              <a:t>Part③ カリンバ制作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</a:rPr>
              <a:t>🛒 用意するもの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Meiryo"/>
              </a:rPr>
              <a:t>【作るもの】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544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Meiryo"/>
              </a:rPr>
              <a:t>【あると便利】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539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eiryo"/>
              </a:rPr>
              <a:t>● 木の板（台座）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539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eiryo"/>
              </a:rPr>
              <a:t>● 金属のキー　8〜10本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74920"/>
            <a:ext cx="539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eiryo"/>
              </a:rPr>
              <a:t>● 固定用の金属棒（ブリッジ）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57400"/>
            <a:ext cx="539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eiryo"/>
              </a:rPr>
              <a:t>● ボルト・ナット（固定用）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66160"/>
            <a:ext cx="539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eiryo"/>
              </a:rPr>
              <a:t>● やすり（あれば）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074920"/>
            <a:ext cx="539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eiryo"/>
              </a:rPr>
              <a:t>● デコレーション用シール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554480"/>
            <a:ext cx="4572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577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5376"/>
                </a:solidFill>
                <a:latin typeface="Meiryo"/>
              </a:rPr>
              <a:t>📦 材料はあらかじめ用意してあります！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eiryo"/>
              </a:rPr>
              <a:t>Part③ カリンバ制作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</a:rPr>
              <a:t>🔨 作り方①：土台を作ろう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502920" cy="105156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627632"/>
            <a:ext cx="365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222222"/>
                </a:solidFill>
                <a:latin typeface="Meiryo"/>
              </a:rPr>
              <a:t>木の板に　ブリッジ（金属棒）を置く場所を確認する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88920"/>
            <a:ext cx="502920" cy="105156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2816352"/>
            <a:ext cx="365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222222"/>
                </a:solidFill>
                <a:latin typeface="Meiryo"/>
              </a:rPr>
              <a:t>金属キーを　長いもの → 短いもの　の順にならべる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977639"/>
            <a:ext cx="502920" cy="105156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4005072"/>
            <a:ext cx="365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77639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222222"/>
                </a:solidFill>
                <a:latin typeface="Meiryo"/>
              </a:rPr>
              <a:t>ブリッジをのせて　ボルトでしっかり固定する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166360"/>
            <a:ext cx="502920" cy="105156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5193792"/>
            <a:ext cx="365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6636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222222"/>
                </a:solidFill>
                <a:latin typeface="Meiryo"/>
              </a:rPr>
              <a:t>各キーの長さを少しずつ調整する（ここが大事！）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577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5376"/>
                </a:solidFill>
                <a:latin typeface="Meiryo"/>
              </a:rPr>
              <a:t>ブリッジの外側に出る長さ　＝　音の高さ　を決める！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eiryo"/>
              </a:rPr>
              <a:t>Part③ カリンバ制作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</a:rPr>
              <a:t>🎵 作り方②：音を出して調整しよう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502920" cy="105156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627632"/>
            <a:ext cx="365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222222"/>
                </a:solidFill>
                <a:latin typeface="Meiryo"/>
              </a:rPr>
              <a:t>キーを親指で軽くはじいてみよう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88920"/>
            <a:ext cx="502920" cy="105156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2816352"/>
            <a:ext cx="365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222222"/>
                </a:solidFill>
                <a:latin typeface="Meiryo"/>
              </a:rPr>
              <a:t>音が出たかな？（ちゃんと固定できてるかな）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977639"/>
            <a:ext cx="502920" cy="105156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4005072"/>
            <a:ext cx="365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77639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222222"/>
                </a:solidFill>
                <a:latin typeface="Meiryo"/>
              </a:rPr>
              <a:t>キーを前後にずらして　音の高さを調整する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166360"/>
            <a:ext cx="502920" cy="105156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5193792"/>
            <a:ext cx="365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6636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222222"/>
                </a:solidFill>
                <a:latin typeface="Meiryo"/>
              </a:rPr>
              <a:t>ドレミ… になるように　少しずつ動かそう！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577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5376"/>
                </a:solidFill>
                <a:latin typeface="Meiryo"/>
              </a:rPr>
              <a:t>キーを長くする → 低い音　　キーを短くする → 高い音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eiryo"/>
              </a:rPr>
              <a:t>Part③ カリンバ制作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</a:rPr>
              <a:t>🔗 キーの長さと音の高さ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Meiryo"/>
              </a:rPr>
              <a:t>なぜ長さで音が変わるの？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"/>
              </a:rPr>
              <a:t>キーが長い
→ はじかれた時の「振動」がゆっくり（振動数が少ない）
→ 低い音
キーが短い
→ 振動が速い（振動数が多い）
→ 高い音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5376"/>
                </a:solidFill>
                <a:latin typeface="Meiryo"/>
              </a:rPr>
              <a:t>気柱共鳴と　まったく同じ原理！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eiryo"/>
              </a:rPr>
              <a:t>Part③ カリンバ制作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</a:rPr>
              <a:t>🔗 ３つの実験のつながり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22222"/>
                </a:solidFill>
                <a:latin typeface="Meiryo"/>
              </a:rPr>
              <a:t>糸電話・気柱共鳴・カリンバ　全部つながっている！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3200400" cy="3200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</a:rPr>
              <a:t>糸電話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Meiryo"/>
              </a:rPr>
              <a:t>音は振動で
伝わる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3383280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22222"/>
                </a:solidFill>
                <a:latin typeface="Meiryo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286000"/>
            <a:ext cx="3200400" cy="3200400"/>
          </a:xfrm>
          <a:prstGeom prst="rect">
            <a:avLst/>
          </a:prstGeom>
          <a:solidFill>
            <a:srgbClr val="1E8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23774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</a:rPr>
              <a:t>気柱共鳴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310896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Meiryo"/>
              </a:rPr>
              <a:t>振動数で
音の高さが決まる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383280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22222"/>
                </a:solidFill>
                <a:latin typeface="Meiryo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286000"/>
            <a:ext cx="3200400" cy="3200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23774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</a:rPr>
              <a:t>カリンバ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10896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Meiryo"/>
              </a:rPr>
              <a:t>キーの長さで
振動数を調整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eiryo"/>
              </a:rPr>
              <a:t>Part③ カリンバ制作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</a:rPr>
              <a:t>🎨 自分だけの楽器を完成させよう！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22222"/>
                </a:solidFill>
                <a:latin typeface="Meiryo"/>
              </a:rPr>
              <a:t>デコレーションしよう！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"/>
              </a:rPr>
              <a:t>世界に１つだけの　自分だけのカリンバを飾ろう！
　・シールを貼る
　・名前を書く
　・音の名前（ドレミ）を書いてみよう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5376"/>
                </a:solidFill>
                <a:latin typeface="Meiryo"/>
              </a:rPr>
              <a:t>完成したら　弾いてみよう！ 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eiryo"/>
              </a:rPr>
              <a:t>Part③ カリンバ制作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</a:rPr>
              <a:t>🎶 みんなで演奏！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22222"/>
                </a:solidFill>
                <a:latin typeface="Meiryo"/>
              </a:rPr>
              <a:t>みんなで演奏してみよう！🎵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222"/>
                </a:solidFill>
                <a:latin typeface="Meiryo"/>
              </a:rPr>
              <a:t>「きらきら星」の弾き方
ド　ド　ソ　ソ　ラ　ラ　ソー
ファ　ファ　ミ　ミ　レ　レ　ドー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5376"/>
                </a:solidFill>
                <a:latin typeface="Meiryo"/>
              </a:rPr>
              <a:t>上手に弾けたかな？ どんな音がしたか教えてね！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eiryo"/>
              </a:rPr>
              <a:t>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</a:rPr>
              <a:t>📚 今日わかったこと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22222"/>
                </a:solidFill>
                <a:latin typeface="Meiryo"/>
              </a:rPr>
              <a:t>今日わかったこと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  <a:latin typeface="Meiryo"/>
              </a:rPr>
              <a:t>●  ① 音は「振動（しんどう）」で伝わる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43300"/>
            <a:ext cx="112471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  <a:latin typeface="Meiryo"/>
              </a:rPr>
              <a:t>●  ② 振動の数（振動数）が多いほど　高い音になる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00600"/>
            <a:ext cx="112471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  <a:latin typeface="Meiryo"/>
              </a:rPr>
              <a:t>●  ③ 振動する部分の「長さ」で　音の高さが変わる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57900"/>
            <a:ext cx="112471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  <a:latin typeface="Meiryo"/>
              </a:rPr>
              <a:t>●  ④ これをうまく使えば　楽器が作れる！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eiryo"/>
              </a:rPr>
              <a:t>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</a:rPr>
              <a:t>🔑 音のひみつ まとめ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22222"/>
                </a:solidFill>
                <a:latin typeface="Meiryo"/>
              </a:rPr>
              <a:t>音のひみつ まとめ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solidFill>
            <a:srgbClr val="EE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22222"/>
                </a:solidFill>
                <a:latin typeface="Meiryo"/>
              </a:rPr>
              <a:t>音 ＝ 振動　　　高い音 ＝ 速い振動　　　低い音 ＝ 遅い振動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"/>
              </a:rPr>
              <a:t>身の周りの楽器　→　全部「振動の長さ・速さ」で音が決まっている
リコーダー・ギター・ピアノ・太鼓　全部同じ原理！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eiryo"/>
              </a:rPr>
              <a:t>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</a:rPr>
              <a:t>📝 自由研究にまとめてみよう！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Meiryo"/>
              </a:rPr>
              <a:t>自由研究にまとめてみよう！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83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eiryo"/>
              </a:rPr>
              <a:t>●  ①  テーマ：「音の伝わり方と楽器のしくみ」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24200"/>
            <a:ext cx="11247120" cy="83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eiryo"/>
              </a:rPr>
              <a:t>●  ②  仮説：音は○○で伝わる、と思う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62399"/>
            <a:ext cx="11247120" cy="83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eiryo"/>
              </a:rPr>
              <a:t>●  ③  実験方法：糸電話・気柱共鳴・カリンバ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00600"/>
            <a:ext cx="11247120" cy="83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eiryo"/>
              </a:rPr>
              <a:t>●  ④  結果：わかったこと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38800"/>
            <a:ext cx="11247120" cy="83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eiryo"/>
              </a:rPr>
              <a:t>●  ⑤  考察：なぜそうなった？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7000"/>
            <a:ext cx="11247120" cy="83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eiryo"/>
              </a:rPr>
              <a:t>●  ⑥  感想：不思議に思ったこと・もっと調べたいこと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eiryo"/>
              </a:rPr>
              <a:t>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</a:rPr>
              <a:t>💬 感想・気づきを教えてね！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22222"/>
                </a:solidFill>
                <a:latin typeface="Meiryo"/>
              </a:rPr>
              <a:t>感想を書こう！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"/>
              </a:rPr>
              <a:t>●  今日一番おもしろかった実験はどれ？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43300"/>
            <a:ext cx="112471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"/>
              </a:rPr>
              <a:t>●  音についてどんなことがわかった？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00600"/>
            <a:ext cx="112471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"/>
              </a:rPr>
              <a:t>●  もっと調べてみたいことはある？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57900"/>
            <a:ext cx="112471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"/>
              </a:rPr>
              <a:t>●  カリンバを弾いてみてどうだった？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Meiryo"/>
              </a:rPr>
              <a:t>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</a:rPr>
              <a:t>🚀 もっと探求しよう！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22222"/>
                </a:solidFill>
                <a:latin typeface="Meiryo"/>
              </a:rPr>
              <a:t>もっと知りたい人へ！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"/>
              </a:rPr>
              <a:t>🔬  音の速さを測ってみよう（音速：約340m/秒）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43300"/>
            <a:ext cx="112471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"/>
              </a:rPr>
              <a:t>🎼  ピアノの弦を観察してみよう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00600"/>
            <a:ext cx="112471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"/>
              </a:rPr>
              <a:t>🌊  水を入れたグラスを指でこすると…？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57900"/>
            <a:ext cx="112471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"/>
              </a:rPr>
              <a:t>📱  スマホの音声波形を見てみよう（無料アプリあり）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864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5376"/>
                </a:solidFill>
                <a:latin typeface="Meiryo"/>
              </a:rPr>
              <a:t>音の世界はまだまだ深い！どんどん探求しよう！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88952" cy="2286000"/>
          </a:xfrm>
          <a:prstGeom prst="rect">
            <a:avLst/>
          </a:prstGeom>
          <a:solidFill>
            <a:srgbClr val="0F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D700"/>
                </a:solidFill>
                <a:latin typeface="Meiryo"/>
              </a:rPr>
              <a:t>🎵 今日はありがとう！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Meiryo"/>
              </a:rPr>
              <a:t>音のひみつ　わかったかな？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AACCFF"/>
                </a:solidFill>
                <a:latin typeface="Meiryo"/>
              </a:rPr>
              <a:t>作ったカリンバ　大切にしてね！
家でも友だちに教えてあげてね！🎹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Meiryo"/>
              </a:rPr>
              <a:t>理科教育サークル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